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8138d74bed45fc" /><Relationship Type="http://schemas.openxmlformats.org/officeDocument/2006/relationships/extended-properties" Target="/docProps/app.xml" Id="Rab22ee97674941fc" /><Relationship Type="http://schemas.openxmlformats.org/officeDocument/2006/relationships/officeDocument" Target="/ppt/presentation.xml" Id="Rb0577209d29442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7d848c252d42bd"/>
  </p:sldMasterIdLst>
  <p:notesMasterIdLst>
    <p:notesMasterId xmlns:r="http://schemas.openxmlformats.org/officeDocument/2006/relationships" r:id="Rbea1db6340cf4077"/>
  </p:notesMasterIdLst>
  <p:sldIdLst>
    <p:sldId xmlns:r="http://schemas.openxmlformats.org/officeDocument/2006/relationships" id="256" r:id="R9dcff239b27645ff"/>
    <p:sldId xmlns:r="http://schemas.openxmlformats.org/officeDocument/2006/relationships" id="257" r:id="Ra93be8da3a8c4c8b"/>
    <p:sldId xmlns:r="http://schemas.openxmlformats.org/officeDocument/2006/relationships" id="258" r:id="Ra53e4c88acf74dde"/>
    <p:sldId xmlns:r="http://schemas.openxmlformats.org/officeDocument/2006/relationships" id="259" r:id="R27276ba087834e9e"/>
    <p:sldId xmlns:r="http://schemas.openxmlformats.org/officeDocument/2006/relationships" id="260" r:id="Rd60f172d9a794dec"/>
    <p:sldId xmlns:r="http://schemas.openxmlformats.org/officeDocument/2006/relationships" id="261" r:id="R3e9c3e0d76304937"/>
    <p:sldId xmlns:r="http://schemas.openxmlformats.org/officeDocument/2006/relationships" id="262" r:id="R134958ef15d14e04"/>
    <p:sldId xmlns:r="http://schemas.openxmlformats.org/officeDocument/2006/relationships" id="263" r:id="Rc1d7979fb4034d13"/>
    <p:sldId xmlns:r="http://schemas.openxmlformats.org/officeDocument/2006/relationships" id="264" r:id="R1a5d24a91169431a"/>
    <p:sldId xmlns:r="http://schemas.openxmlformats.org/officeDocument/2006/relationships" id="265" r:id="R1aef2ecc12484c43"/>
    <p:sldId xmlns:r="http://schemas.openxmlformats.org/officeDocument/2006/relationships" id="266" r:id="R939614ddcd1f46e8"/>
    <p:sldId xmlns:r="http://schemas.openxmlformats.org/officeDocument/2006/relationships" id="267" r:id="R6490f6abf0db4518"/>
    <p:sldId xmlns:r="http://schemas.openxmlformats.org/officeDocument/2006/relationships" id="268" r:id="Rba69942c31cb458f"/>
    <p:sldId xmlns:r="http://schemas.openxmlformats.org/officeDocument/2006/relationships" id="269" r:id="R835e3cd023da4b3d"/>
    <p:sldId xmlns:r="http://schemas.openxmlformats.org/officeDocument/2006/relationships" id="270" r:id="R4d7ff00702664ffa"/>
    <p:sldId xmlns:r="http://schemas.openxmlformats.org/officeDocument/2006/relationships" id="271" r:id="R12a5166df57f471d"/>
    <p:sldId xmlns:r="http://schemas.openxmlformats.org/officeDocument/2006/relationships" id="272" r:id="Read287fdef8a48b9"/>
    <p:sldId xmlns:r="http://schemas.openxmlformats.org/officeDocument/2006/relationships" id="273" r:id="R81ff9c10c7b740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a668c0d6c4499f" /><Relationship Type="http://schemas.openxmlformats.org/officeDocument/2006/relationships/slideMaster" Target="/ppt/slideMasters/slideMaster1.xml" Id="R1a7d848c252d42bd" /><Relationship Type="http://schemas.openxmlformats.org/officeDocument/2006/relationships/notesMaster" Target="/ppt/notesMasters/notesMaster1.xml" Id="Rbea1db6340cf4077" /><Relationship Type="http://schemas.openxmlformats.org/officeDocument/2006/relationships/presProps" Target="/ppt/presProps.xml" Id="Rfb7d43a7de2849c5" /><Relationship Type="http://schemas.openxmlformats.org/officeDocument/2006/relationships/tableStyles" Target="/ppt/tableStyles.xml" Id="R38c7c5c9baab4f88" /><Relationship Type="http://schemas.openxmlformats.org/officeDocument/2006/relationships/slide" Target="/ppt/slides/slide1.xml" Id="R9dcff239b27645ff" /><Relationship Type="http://schemas.openxmlformats.org/officeDocument/2006/relationships/slide" Target="/ppt/slides/slide2.xml" Id="Ra93be8da3a8c4c8b" /><Relationship Type="http://schemas.openxmlformats.org/officeDocument/2006/relationships/slide" Target="/ppt/slides/slide3.xml" Id="Ra53e4c88acf74dde" /><Relationship Type="http://schemas.openxmlformats.org/officeDocument/2006/relationships/slide" Target="/ppt/slides/slide4.xml" Id="R27276ba087834e9e" /><Relationship Type="http://schemas.openxmlformats.org/officeDocument/2006/relationships/slide" Target="/ppt/slides/slide5.xml" Id="Rd60f172d9a794dec" /><Relationship Type="http://schemas.openxmlformats.org/officeDocument/2006/relationships/slide" Target="/ppt/slides/slide6.xml" Id="R3e9c3e0d76304937" /><Relationship Type="http://schemas.openxmlformats.org/officeDocument/2006/relationships/slide" Target="/ppt/slides/slide7.xml" Id="R134958ef15d14e04" /><Relationship Type="http://schemas.openxmlformats.org/officeDocument/2006/relationships/slide" Target="/ppt/slides/slide8.xml" Id="Rc1d7979fb4034d13" /><Relationship Type="http://schemas.openxmlformats.org/officeDocument/2006/relationships/slide" Target="/ppt/slides/slide9.xml" Id="R1a5d24a91169431a" /><Relationship Type="http://schemas.openxmlformats.org/officeDocument/2006/relationships/slide" Target="/ppt/slides/slide10.xml" Id="R1aef2ecc12484c43" /><Relationship Type="http://schemas.openxmlformats.org/officeDocument/2006/relationships/slide" Target="/ppt/slides/slide11.xml" Id="R939614ddcd1f46e8" /><Relationship Type="http://schemas.openxmlformats.org/officeDocument/2006/relationships/slide" Target="/ppt/slides/slide12.xml" Id="R6490f6abf0db4518" /><Relationship Type="http://schemas.openxmlformats.org/officeDocument/2006/relationships/slide" Target="/ppt/slides/slide13.xml" Id="Rba69942c31cb458f" /><Relationship Type="http://schemas.openxmlformats.org/officeDocument/2006/relationships/slide" Target="/ppt/slides/slide14.xml" Id="R835e3cd023da4b3d" /><Relationship Type="http://schemas.openxmlformats.org/officeDocument/2006/relationships/slide" Target="/ppt/slides/slide15.xml" Id="R4d7ff00702664ffa" /><Relationship Type="http://schemas.openxmlformats.org/officeDocument/2006/relationships/slide" Target="/ppt/slides/slide16.xml" Id="R12a5166df57f471d" /><Relationship Type="http://schemas.openxmlformats.org/officeDocument/2006/relationships/slide" Target="/ppt/slides/slide17.xml" Id="Read287fdef8a48b9" /><Relationship Type="http://schemas.openxmlformats.org/officeDocument/2006/relationships/slide" Target="/ppt/slides/slide18.xml" Id="R81ff9c10c7b740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dadd1d1cc145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f99de41c364450" /><Relationship Type="http://schemas.openxmlformats.org/officeDocument/2006/relationships/notesMaster" Target="/ppt/notesMasters/notesMaster1.xml" Id="Rf2ddfbcbcca046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bf897cd1de48af" /><Relationship Type="http://schemas.openxmlformats.org/officeDocument/2006/relationships/notesMaster" Target="/ppt/notesMasters/notesMaster1.xml" Id="R6f8084aaa3574e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237aa6c9e94fcc" /><Relationship Type="http://schemas.openxmlformats.org/officeDocument/2006/relationships/notesMaster" Target="/ppt/notesMasters/notesMaster1.xml" Id="Rcc8a5ac046d24a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3694e81563420d" /><Relationship Type="http://schemas.openxmlformats.org/officeDocument/2006/relationships/notesMaster" Target="/ppt/notesMasters/notesMaster1.xml" Id="Rbd9a6d83b43f46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4b807610df4df1" /><Relationship Type="http://schemas.openxmlformats.org/officeDocument/2006/relationships/notesMaster" Target="/ppt/notesMasters/notesMaster1.xml" Id="Rab81d1ffaa8943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600a216eab41bd" /><Relationship Type="http://schemas.openxmlformats.org/officeDocument/2006/relationships/notesMaster" Target="/ppt/notesMasters/notesMaster1.xml" Id="R98e875a875f649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bd5d3b5ffe478e" /><Relationship Type="http://schemas.openxmlformats.org/officeDocument/2006/relationships/notesMaster" Target="/ppt/notesMasters/notesMaster1.xml" Id="Re6865116964440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061d9e6cbc4357" /><Relationship Type="http://schemas.openxmlformats.org/officeDocument/2006/relationships/notesMaster" Target="/ppt/notesMasters/notesMaster1.xml" Id="R440221ce829a4e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e354f46efe4ee2" /><Relationship Type="http://schemas.openxmlformats.org/officeDocument/2006/relationships/notesMaster" Target="/ppt/notesMasters/notesMaster1.xml" Id="R0154f6c783b741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ccec8e361849b8" /><Relationship Type="http://schemas.openxmlformats.org/officeDocument/2006/relationships/notesMaster" Target="/ppt/notesMasters/notesMaster1.xml" Id="R38c547065f4c43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289314efcc4a1c" /><Relationship Type="http://schemas.openxmlformats.org/officeDocument/2006/relationships/notesMaster" Target="/ppt/notesMasters/notesMaster1.xml" Id="Rddaae7825a9c4c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f2135133db4380" /><Relationship Type="http://schemas.openxmlformats.org/officeDocument/2006/relationships/notesMaster" Target="/ppt/notesMasters/notesMaster1.xml" Id="R11c354bf6e8a4d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ce2681feff473d" /><Relationship Type="http://schemas.openxmlformats.org/officeDocument/2006/relationships/notesMaster" Target="/ppt/notesMasters/notesMaster1.xml" Id="R77a982da78524a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597ddf176b4dbc" /><Relationship Type="http://schemas.openxmlformats.org/officeDocument/2006/relationships/notesMaster" Target="/ppt/notesMasters/notesMaster1.xml" Id="Rc58ce27642b643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afbedba58e42df" /><Relationship Type="http://schemas.openxmlformats.org/officeDocument/2006/relationships/notesMaster" Target="/ppt/notesMasters/notesMaster1.xml" Id="R7082c281eeb84a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da42bbac514613" /><Relationship Type="http://schemas.openxmlformats.org/officeDocument/2006/relationships/notesMaster" Target="/ppt/notesMasters/notesMaster1.xml" Id="R17cb225dbe5b4c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cd3eb381d94728" /><Relationship Type="http://schemas.openxmlformats.org/officeDocument/2006/relationships/notesMaster" Target="/ppt/notesMasters/notesMaster1.xml" Id="Rb1716815273c48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5c38645d2c41b6" /><Relationship Type="http://schemas.openxmlformats.org/officeDocument/2006/relationships/notesMaster" Target="/ppt/notesMasters/notesMaster1.xml" Id="Rb9591cb57c6042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promise: Scyra makes focus visible, memorable, and worth returning 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Scyra as a system. The user moves from intention to evidence, then from evidence to a reason to come 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current-week screenshot to show how quickly a completed session becomes visible and actionable in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the timer is only the entry point: Scyra adds mode choice, journey context, Surge targets, reflection, and Arc continuation.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Chronicle depth with Pulse speed. Both preserve context, while Pulse also feeds the idea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Swipe the live reward carousel during the demo. The investor point is that completion creates both evidence and a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Flows and Arcs tabs as the bridge between today’s focus and a repeatable longer-term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position templates as scaffolding, not locked programs: users can save and adapt the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Scyra can be tuned for users who want numbers and for users who want a calmer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transition from reward reveal into The Shell, then open The Lookout to show concrete return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useful investor contrast: the same underlying activity supports analytical and generative motivations.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Scyra’s motivation system includes recovery and calm, not only more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populated environment is the clearest visual explanation of the long-term return loop. Move between depth zones during the live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a creature from The Blue or the Chest and emphasize the provenance line linking the reward to a completed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Badges cover more than streaks. Point out duration, variety, collection, and Stillwater achievements in the populated showcase.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completeness check. Every named feature in the app belongs to one of four user-facing value layers.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exact route for a concise stakeholder demo. It shows action, reflection, reward, and retention without getting trapped in menus.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opening: the product is a continuous system that turns intentional time into a world users can revisit. Invite alignment on the next validation milestone.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Scyra Android app, locally captured on an Android emulator from the Scyra Debug build, 2026-08-19.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7d686b2714a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7bbf07476444a3" /><Relationship Type="http://schemas.openxmlformats.org/officeDocument/2006/relationships/slideLayout" Target="/ppt/slideLayouts/slideLayout1.xml" Id="R1e1a7f0b12bd44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1a7f0b12bd44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caa2bcc254fe7" /><Relationship Type="http://schemas.openxmlformats.org/officeDocument/2006/relationships/image" Target="/ppt/media/image.png" Id="Rec4eb2deded248fb" /><Relationship Type="http://schemas.openxmlformats.org/officeDocument/2006/relationships/image" Target="/ppt/media/image2.png" Id="R2da3692ac4ed4446" /><Relationship Type="http://schemas.openxmlformats.org/officeDocument/2006/relationships/notesSlide" Target="/ppt/notesSlides/notesSlide1.xml" Id="R9f3931f064ed4f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6516ba35e480b" /><Relationship Type="http://schemas.openxmlformats.org/officeDocument/2006/relationships/notesSlide" Target="/ppt/notesSlides/notesSlide2.xml" Id="R1cf9909ae06849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f221be108406a" /><Relationship Type="http://schemas.openxmlformats.org/officeDocument/2006/relationships/image" Target="/ppt/media/image3.png" Id="Ra6f23238d53c4c81" /><Relationship Type="http://schemas.openxmlformats.org/officeDocument/2006/relationships/notesSlide" Target="/ppt/notesSlides/notesSlide3.xml" Id="Re685e39344484e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523a1411c440e" /><Relationship Type="http://schemas.openxmlformats.org/officeDocument/2006/relationships/image" Target="/ppt/media/image4.png" Id="Rdcc738e621ed4499" /><Relationship Type="http://schemas.openxmlformats.org/officeDocument/2006/relationships/image" Target="/ppt/media/image5.png" Id="Re7475485c8e14b0b" /><Relationship Type="http://schemas.openxmlformats.org/officeDocument/2006/relationships/notesSlide" Target="/ppt/notesSlides/notesSlide4.xml" Id="Rc890a557319647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fd769dc15413a" /><Relationship Type="http://schemas.openxmlformats.org/officeDocument/2006/relationships/image" Target="/ppt/media/image6.png" Id="Rad70821a3ddd42ad" /><Relationship Type="http://schemas.openxmlformats.org/officeDocument/2006/relationships/image" Target="/ppt/media/image7.png" Id="Re833358476f74804" /><Relationship Type="http://schemas.openxmlformats.org/officeDocument/2006/relationships/notesSlide" Target="/ppt/notesSlides/notesSlide5.xml" Id="R967c1156c46341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105785f124782" /><Relationship Type="http://schemas.openxmlformats.org/officeDocument/2006/relationships/image" Target="/ppt/media/image8.png" Id="R71847837c0864ee6" /><Relationship Type="http://schemas.openxmlformats.org/officeDocument/2006/relationships/image" Target="/ppt/media/image9.png" Id="R9b25a70b13be4399" /><Relationship Type="http://schemas.openxmlformats.org/officeDocument/2006/relationships/notesSlide" Target="/ppt/notesSlides/notesSlide6.xml" Id="R281a144722a64e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611d88bb64fb5" /><Relationship Type="http://schemas.openxmlformats.org/officeDocument/2006/relationships/image" Target="/ppt/media/image10.png" Id="Rc1e91dadda7748b9" /><Relationship Type="http://schemas.openxmlformats.org/officeDocument/2006/relationships/image" Target="/ppt/media/image11.png" Id="R265b4a2d2943496c" /><Relationship Type="http://schemas.openxmlformats.org/officeDocument/2006/relationships/notesSlide" Target="/ppt/notesSlides/notesSlide7.xml" Id="R4336a0319f3143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fe3a49e834409" /><Relationship Type="http://schemas.openxmlformats.org/officeDocument/2006/relationships/image" Target="/ppt/media/image12.png" Id="R806aedc4a9574c37" /><Relationship Type="http://schemas.openxmlformats.org/officeDocument/2006/relationships/image" Target="/ppt/media/image13.png" Id="R68e4b5d6c33e45a5" /><Relationship Type="http://schemas.openxmlformats.org/officeDocument/2006/relationships/notesSlide" Target="/ppt/notesSlides/notesSlide8.xml" Id="Rd352367fb80147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a38aec300473b" /><Relationship Type="http://schemas.openxmlformats.org/officeDocument/2006/relationships/image" Target="/ppt/media/image14.png" Id="Rc04b18f7c9904a60" /><Relationship Type="http://schemas.openxmlformats.org/officeDocument/2006/relationships/image" Target="/ppt/media/image15.png" Id="Rbf2fa45952064440" /><Relationship Type="http://schemas.openxmlformats.org/officeDocument/2006/relationships/notesSlide" Target="/ppt/notesSlides/notesSlide9.xml" Id="Rf2be7bec405c49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9d76d79164cb4" /><Relationship Type="http://schemas.openxmlformats.org/officeDocument/2006/relationships/image" Target="/ppt/media/image16.png" Id="Rc2d2238012da46d1" /><Relationship Type="http://schemas.openxmlformats.org/officeDocument/2006/relationships/image" Target="/ppt/media/image17.png" Id="Re96ce96556964ad3" /><Relationship Type="http://schemas.openxmlformats.org/officeDocument/2006/relationships/notesSlide" Target="/ppt/notesSlides/notesSlide10.xml" Id="R093beaf0934348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687c287164e31" /><Relationship Type="http://schemas.openxmlformats.org/officeDocument/2006/relationships/image" Target="/ppt/media/image18.png" Id="Rfcac9dca1582453d" /><Relationship Type="http://schemas.openxmlformats.org/officeDocument/2006/relationships/image" Target="/ppt/media/image19.png" Id="Re0dc347a39ed42c4" /><Relationship Type="http://schemas.openxmlformats.org/officeDocument/2006/relationships/notesSlide" Target="/ppt/notesSlides/notesSlide11.xml" Id="R45eb3ddec73641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0cac6fb5a44df" /><Relationship Type="http://schemas.openxmlformats.org/officeDocument/2006/relationships/image" Target="/ppt/media/image20.png" Id="Rd93decb5f4824eb8" /><Relationship Type="http://schemas.openxmlformats.org/officeDocument/2006/relationships/image" Target="/ppt/media/image21.png" Id="R675117628e1d4d20" /><Relationship Type="http://schemas.openxmlformats.org/officeDocument/2006/relationships/notesSlide" Target="/ppt/notesSlides/notesSlide12.xml" Id="Rb83de11ea1a347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b57836fe346b3" /><Relationship Type="http://schemas.openxmlformats.org/officeDocument/2006/relationships/image" Target="/ppt/media/image22.png" Id="R713da35415d44e5b" /><Relationship Type="http://schemas.openxmlformats.org/officeDocument/2006/relationships/image" Target="/ppt/media/image23.png" Id="Rb613f83df66d439e" /><Relationship Type="http://schemas.openxmlformats.org/officeDocument/2006/relationships/notesSlide" Target="/ppt/notesSlides/notesSlide13.xml" Id="Rb9c86c60bc0148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2b1d2fae64d89" /><Relationship Type="http://schemas.openxmlformats.org/officeDocument/2006/relationships/image" Target="/ppt/media/image24.png" Id="R8a6cdf2ae2124059" /><Relationship Type="http://schemas.openxmlformats.org/officeDocument/2006/relationships/image" Target="/ppt/media/image25.png" Id="R92419f18c8034c0d" /><Relationship Type="http://schemas.openxmlformats.org/officeDocument/2006/relationships/notesSlide" Target="/ppt/notesSlides/notesSlide14.xml" Id="R2318ede866c74f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4206572074b15" /><Relationship Type="http://schemas.openxmlformats.org/officeDocument/2006/relationships/image" Target="/ppt/media/image26.png" Id="R21e0b1ea41a849a2" /><Relationship Type="http://schemas.openxmlformats.org/officeDocument/2006/relationships/notesSlide" Target="/ppt/notesSlides/notesSlide15.xml" Id="Rf1c9cca019804a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f8d15a90a4159" /><Relationship Type="http://schemas.openxmlformats.org/officeDocument/2006/relationships/notesSlide" Target="/ppt/notesSlides/notesSlide16.xml" Id="R3c91ed8afea346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01bd0223e4d3a" /><Relationship Type="http://schemas.openxmlformats.org/officeDocument/2006/relationships/image" Target="/ppt/media/image27.png" Id="Rda49a7a14c934a61" /><Relationship Type="http://schemas.openxmlformats.org/officeDocument/2006/relationships/image" Target="/ppt/media/image28.png" Id="Rd0d9e5d2c3624146" /><Relationship Type="http://schemas.openxmlformats.org/officeDocument/2006/relationships/image" Target="/ppt/media/image29.png" Id="R4a887916406948ab" /><Relationship Type="http://schemas.openxmlformats.org/officeDocument/2006/relationships/image" Target="/ppt/media/image30.png" Id="R4b8e79cfe1054758" /><Relationship Type="http://schemas.openxmlformats.org/officeDocument/2006/relationships/image" Target="/ppt/media/image31.png" Id="R4e180b54771d4842" /><Relationship Type="http://schemas.openxmlformats.org/officeDocument/2006/relationships/notesSlide" Target="/ppt/notesSlides/notesSlide17.xml" Id="R5717f3f499df49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a078664f54d6c" /><Relationship Type="http://schemas.openxmlformats.org/officeDocument/2006/relationships/image" Target="/ppt/media/image32.png" Id="Raf14992d951b470b" /><Relationship Type="http://schemas.openxmlformats.org/officeDocument/2006/relationships/image" Target="/ppt/media/image33.png" Id="R31451324909f4e7e" /><Relationship Type="http://schemas.openxmlformats.org/officeDocument/2006/relationships/image" Target="/ppt/media/image34.png" Id="Rba938ec1cfe34591" /><Relationship Type="http://schemas.openxmlformats.org/officeDocument/2006/relationships/notesSlide" Target="/ppt/notesSlides/notesSlide18.xml" Id="R082c29325f1949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BC091-489C-4EB2-9B0F-33354C23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SCYRA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eb2deded248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009650"/>
            <a:ext cx="876300" cy="876300"/>
          </a:xfrm>
          <a:prstGeom xmlns:a="http://schemas.openxmlformats.org/drawingml/2006/main" prst="roundRect">
            <a:avLst>
              <a:gd name="adj" fmla="val 27174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11ADD-6854-467B-9723-01DC2465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5191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Turn intentional time</a:t>
            </a:r>
          </a:p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into a living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80D45-DC52-4CDA-BCCB-1AA1C97C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A complete product walkthrough for investors and stakeholders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8AB7B-6135-4F5B-B2CA-DD841DA6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Android product demo  •  August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7A7BB-BE55-46F7-8093-FB21CB9F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"/>
            <a:ext cx="5486400" cy="6172200"/>
          </a:xfrm>
          <a:prstGeom xmlns:a="http://schemas.openxmlformats.org/drawingml/2006/main" prst="roundRect">
            <a:avLst>
              <a:gd name="adj" fmla="val 4861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25783-2C68-4963-A186-686D522E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90550"/>
            <a:ext cx="2571750" cy="5416550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185B72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3692ac4ed44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657225"/>
            <a:ext cx="2438400" cy="5283200"/>
          </a:xfrm>
          <a:prstGeom xmlns:a="http://schemas.openxmlformats.org/drawingml/2006/main" prst="roundRect">
            <a:avLst>
              <a:gd name="adj" fmla="val 1054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2C875-37A4-4088-8F01-E4D0933F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857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rPr>
              <a:t>THE BLUE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48E1E-F9A8-4563-84B1-D06BB8B1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115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Progress becomes a world users can return to.</a:t>
            </a:r>
          </a:p>
        </p:txBody>
      </p:sp>
    </p:spTree>
    <p:extLst>
      <p:ext uri="{BB962C8B-B14F-4D97-AF65-F5344CB8AC3E}">
        <p14:creationId xmlns:p14="http://schemas.microsoft.com/office/powerpoint/2010/main" val="661300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1C3C98-3CD6-4C59-8DB1-BF88C23C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02  /  PRODUCT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9013B-EAAE-4B37-90B4-1E50A80D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app connects a complete behavior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3A20B-92FD-4FE6-AC99-CD922E65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Every action creates context for the next session—and long-term progress beyond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DD5D8-4424-4172-BDAC-090994C6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600E8-B421-430D-861F-C74B43F9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8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DE23F-2482-4101-B611-EA68F498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6227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9694"/>
          </a:solidFill>
          <a:ln xmlns:a="http://schemas.openxmlformats.org/drawingml/2006/main" w="38100">
            <a:solidFill>
              <a:srgbClr val="FAF7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89E73-BE8B-48C3-8CAA-5C7ECE03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DAE03-9117-48C2-A041-AB907667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94F16-6C76-498A-8543-D4764D17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676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Start a scored Flow or a gentle Soft 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01DCD-2F80-4149-9236-B895BC39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6227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9694"/>
          </a:solidFill>
          <a:ln xmlns:a="http://schemas.openxmlformats.org/drawingml/2006/main" w="38100">
            <a:solidFill>
              <a:srgbClr val="FAF7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F1378-E0B4-46D3-8159-3DA045DB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266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6FA81-B0C4-4C89-B054-A11374F6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543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37AAE-2956-4B73-8B65-F80CAA77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00500"/>
            <a:ext cx="1676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Record a Pulse or multimodal Chronicle.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A9382-5A3B-41AD-9444-E74D99B4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96227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9694"/>
          </a:solidFill>
          <a:ln xmlns:a="http://schemas.openxmlformats.org/drawingml/2006/main" w="38100">
            <a:solidFill>
              <a:srgbClr val="FAF7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BC011-D426-401E-AFBF-36D50AB8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66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D2EEC-0677-4E03-A405-4A872A73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43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913D0-CFA3-468A-9A3C-39D35C36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1676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See time, score, journeys, Sagas, and Chronicles.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87E1B-90FF-4177-A8D3-44F1412D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6227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9694"/>
          </a:solidFill>
          <a:ln xmlns:a="http://schemas.openxmlformats.org/drawingml/2006/main" w="38100">
            <a:solidFill>
              <a:srgbClr val="FAF7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88DC7-A00F-4346-AC5A-A6146A8B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66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C860D-F7A1-4559-8293-03E3F222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543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C28A1-2AD3-4D4E-922A-DEB09B3E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1676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Schedule Flows, build Arcs, or launch a suggested Scene.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5BDB0-75FE-4437-BDFF-2D1B53FF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6227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9B50"/>
          </a:solidFill>
          <a:ln xmlns:a="http://schemas.openxmlformats.org/drawingml/2006/main" w="38100">
            <a:solidFill>
              <a:srgbClr val="FAF7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B8BA3-AB5A-4619-B107-11B76B7A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3648F-1755-4E6D-A474-263960DE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43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Return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8E455A-7AA3-429D-A9AC-C16ECB13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1676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Grow The Shell, collections, creatures, and badges.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A534E7-4991-43DE-822A-E12747E8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43575"/>
            <a:ext cx="944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The differentiated value is the continuity between the tools—not any single timer, journal, or reward mechanic.</a:t>
            </a:r>
          </a:p>
        </p:txBody>
      </p:sp>
    </p:spTree>
    <p:extLst>
      <p:ext uri="{BB962C8B-B14F-4D97-AF65-F5344CB8AC3E}">
        <p14:creationId xmlns:p14="http://schemas.microsoft.com/office/powerpoint/2010/main" val="1454384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7BB19-91D8-4FD2-9F20-9D9E3946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03  / 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95669-765E-4E24-9055-93986A5E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Story turns effort into a navigable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EC235-E32D-479E-B5DC-9819ED8E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Users can zoom from one day to a month, filter by journey, and move between narrative and trend 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9E51D-15F2-460D-8777-F54D98CF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B3F56-A46E-41D7-A35F-EDE94B9B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14525"/>
            <a:ext cx="2171700" cy="454977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23238d53c4c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1981200"/>
            <a:ext cx="2038350" cy="4416425"/>
          </a:xfrm>
          <a:prstGeom xmlns:a="http://schemas.openxmlformats.org/drawingml/2006/main" prst="roundRect">
            <a:avLst>
              <a:gd name="adj" fmla="val 1261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BB6EC-8738-41D4-A898-2DE0F912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95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Story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2B0B5-07A7-4756-9080-EA46BB89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ONE 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F39CD-DD19-4891-903C-65C81B9A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193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Time and score in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7FA42-8B80-47C5-993D-FBEB5F0D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The Story view combines session time, Scyra Score, journey tags, and session cards—without forcing users into a separate analytics product.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608D5-1B33-49C3-9C49-35E7981B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4312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2F769-4D03-41D6-B8D3-8D07B1C9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62175"/>
            <a:ext cx="3038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Flexible lenses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502B6-9B49-4781-AEE0-7E61A0DD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038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Day, Week, Month, previous/next period, and journey filters.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4A753-1BE1-4577-80F4-12EFAE73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4330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26C58-12BB-48DB-ADC8-CE06898E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038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Two storytelling modes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F9D0E-7C1D-48B6-931D-13FD3655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3038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Sagas organize progress; Chronicles preserve the qualitative record.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DE4DD-5063-4139-A990-D1223788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94347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D8771-5319-4F77-8146-0E36D505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62525"/>
            <a:ext cx="3038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Action stays 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5CBE0-3A99-4A60-BC0A-781C8D87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53050"/>
            <a:ext cx="3038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Start a Flow or capture a Pulse directly from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2029240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D47AB-8B53-4DC1-B774-2EEFBD9D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04  /  FOCUS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B4E3B-6F16-428B-AA7D-6A921BA1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Flow supports intensity without enforcing one mode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0B019-E329-4941-B48E-A23673A3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A single session surface covers scored focus, gentle work, targets, live runtime, and continuation.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C96E9-5B81-4F97-AA59-91BB1E9F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1332E-6F9D-4FCA-B352-018CA52D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81200"/>
            <a:ext cx="1943100" cy="40544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738e621ed44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047875"/>
            <a:ext cx="1809750" cy="3921125"/>
          </a:xfrm>
          <a:prstGeom xmlns:a="http://schemas.openxmlformats.org/drawingml/2006/main" prst="roundRect">
            <a:avLst>
              <a:gd name="adj" fmla="val 1421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45AA6-E980-40A9-B0CB-F868657F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309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Session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702AC-7F7E-48B9-A190-F9897695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1943100" cy="40544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75485c8e14b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14675" y="2047875"/>
            <a:ext cx="1809750" cy="3921125"/>
          </a:xfrm>
          <a:prstGeom xmlns:a="http://schemas.openxmlformats.org/drawingml/2006/main" prst="roundRect">
            <a:avLst>
              <a:gd name="adj" fmla="val 1421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9CF5C-7DB2-4964-AAD6-294C147A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1309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Live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03564-1682-47FF-8245-21F07CA6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FLEXIBLE 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8850B-3C44-40C3-A4DA-DEF6319A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003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Flow or Soft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2B2FE-03CE-489A-A2AC-A28E773D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Choose scored focus or a calmer, unscored mode. Add a title and journey, then run the timer in the foreground or background.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B4ABA-DD5E-43BB-9027-35898F22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8620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62277-03E1-4BDD-B61F-48F11D9A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Surge targets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6C45B-B970-4CF9-AD3A-9167F4EF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95775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Arm a timed challenge with milestone feedback and bonus scoring.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722D5-8146-454A-8C19-C323FCC1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4350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722D6-DF25-4DC7-ADC5-5536ACF8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Stay in the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80DFF-F450-4CBD-B31F-C905C243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53075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Record a Pulse during the session, reset safely, or continue an Arc step.</a:t>
            </a:r>
          </a:p>
        </p:txBody>
      </p:sp>
    </p:spTree>
    <p:extLst>
      <p:ext uri="{BB962C8B-B14F-4D97-AF65-F5344CB8AC3E}">
        <p14:creationId xmlns:p14="http://schemas.microsoft.com/office/powerpoint/2010/main" val="1290458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4E8C2-B340-4D02-AFC4-AA923D06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05  /  CAPTURE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6F121-DEC3-4BA7-8094-C57BCFE3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Reflection meets users in the medium they already have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587F9-43DF-4C9B-BFAF-7D35627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Quick Pulse capture and rich Chronicle capture share the same journey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D3E7F-B6AB-4D14-B392-8D47CAB5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66EE9-1AC0-4F40-B14D-542EC7C0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0821a3ddd42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02EAC-8441-45B4-B67B-4D7B06F9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Chronicle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D5844-D6DD-48AE-9C6A-E9D95BA3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3358476f748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1850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757D6-864B-4035-BF7C-C8106850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Pulse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D9054-6551-426F-B758-BD8570EE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43125"/>
            <a:ext cx="500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rPr>
              <a:t>CHRONICLE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BF500-297F-4018-A188-7253D847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28875"/>
            <a:ext cx="500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multimodal memory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CBA25-AD52-485C-9A37-4C48E7C3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57525"/>
            <a:ext cx="5000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Capture text, dictated or recorded audio, gallery media, a new photo, or video. Media and transcription stay attached to the user’s 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F22F5-CBFA-4C8E-9BC8-76677C47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43375"/>
            <a:ext cx="500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PULSE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DFA4F-81A2-4DF8-9A5B-349EBF18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29125"/>
            <a:ext cx="5000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Low-friction 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A2234-148A-4D22-BB6B-FC6CAD10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57775"/>
            <a:ext cx="5000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Tag a thought to a journey, attach it to the active Flow, and later let Idea Grove turn that reflection into something actionable.</a:t>
            </a:r>
          </a:p>
        </p:txBody>
      </p:sp>
    </p:spTree>
    <p:extLst>
      <p:ext uri="{BB962C8B-B14F-4D97-AF65-F5344CB8AC3E}">
        <p14:creationId xmlns:p14="http://schemas.microsoft.com/office/powerpoint/2010/main" val="361446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1C37B-F1CA-4D81-95B1-4726BB38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06  /  REWARD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1B988-D353-416A-A9CE-0CC09BC3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Completion closes the loop immediately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0C8D0-4023-44A6-A8CD-2BA54CD3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The user sees what was logged, what was earned, and how that progress changes The Shell.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17223-F6E4-4834-9258-D1893B5A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01A9C-091F-4922-AA56-D4476DA5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33575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47837c0864e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000250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9AD41-4AE1-4864-84EA-10476501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2863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Points &amp; Pearls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C4C2E-F166-4D5D-B79A-AE7B5876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33575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5a70b13be43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2000250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4D9B2-238A-4927-AB29-C3277436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392863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Shell impact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2ED4E-91BF-432F-AC2F-5831AE0A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00275"/>
            <a:ext cx="509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rPr>
              <a:t>REWARD REVEAL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EB586-1E0F-421B-8594-42156565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860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Effort becomes a portable resource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2F52A-6C16-4F59-AA91-7CD6DA17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14675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Scyra Points are explained—not just displayed—and carried into The Shell as Pearls. The carousel can also reveal creatures and Arc outcomes.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EEF62-BE88-4D04-BB4E-00D9CB31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9AA47-102E-4574-8C86-49CBBA2E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33900"/>
            <a:ext cx="4276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dead 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17DEE-AD62-4699-8A18-3DFEBCA1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24425"/>
            <a:ext cx="4276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Done returns the user to their story; Enter The Shell continues into the retention layer.</a:t>
            </a:r>
          </a:p>
        </p:txBody>
      </p:sp>
    </p:spTree>
    <p:extLst>
      <p:ext uri="{BB962C8B-B14F-4D97-AF65-F5344CB8AC3E}">
        <p14:creationId xmlns:p14="http://schemas.microsoft.com/office/powerpoint/2010/main" val="1470487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E300C-4AFD-4B94-BB41-763FB325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07  / 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7F9E9-B67F-4730-81E3-A5F32A21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Paths turns intention into a visible horizon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797B6-F2EE-42F1-99F3-D3BBBE86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Plan a single Flow, organize a multi-step Arc, or begin from a suggested Scene.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3F309-EDAC-48F8-8ABA-D36D7830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46B4D-7242-40D5-A772-8E0FE64D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71675"/>
            <a:ext cx="2019300" cy="421957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91dadda7748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2038350"/>
            <a:ext cx="1885950" cy="4086225"/>
          </a:xfrm>
          <a:prstGeom xmlns:a="http://schemas.openxmlformats.org/drawingml/2006/main" prst="roundRect">
            <a:avLst>
              <a:gd name="adj" fmla="val 1363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3B7E5-61D5-4F3D-8E9F-B87493CA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Planned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87115-7366-4841-8C27-2159DDEA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971675"/>
            <a:ext cx="2019300" cy="421957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b4a2d294349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95650" y="2038350"/>
            <a:ext cx="1885950" cy="4086225"/>
          </a:xfrm>
          <a:prstGeom xmlns:a="http://schemas.openxmlformats.org/drawingml/2006/main" prst="roundRect">
            <a:avLst>
              <a:gd name="adj" fmla="val 1363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D857E-5626-40ED-B350-CDC1B4FF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2865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Arcs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ACBE4-ABCA-4BC1-BBEF-07F22F1F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HORIZON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6BC0B-E966-4BCD-B5EE-FF48ADBC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3840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Two planning scales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CBC39-0202-451F-AE69-0960240E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Flows support the next intentional block. Arcs link multiple steps into a reusable route with a clear beginning and continuation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F42EA-97E0-40A8-AF96-0F9D7BE4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38E8D-886D-4E9A-822C-B9B77E46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862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Create from scratch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E213F-0BB9-4AE9-B646-97716194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76775"/>
            <a:ext cx="4229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Plan a Flow or build an Arc around a goal.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22103-83AD-4BD8-86ED-248DFB96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42C8E-B01D-4011-A9CE-2A169740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530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Borrow a pattern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47AF4-FB8A-4AAD-84B9-0E012867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743575"/>
            <a:ext cx="4229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Suggested Scenes provide launch-ready structures for common focus modes.</a:t>
            </a:r>
          </a:p>
        </p:txBody>
      </p:sp>
    </p:spTree>
    <p:extLst>
      <p:ext uri="{BB962C8B-B14F-4D97-AF65-F5344CB8AC3E}">
        <p14:creationId xmlns:p14="http://schemas.microsoft.com/office/powerpoint/2010/main" val="468108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1B503-C6E0-4DAD-BDAB-73A0D2FD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08  / 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0BBF2-F62E-4734-835D-BA362E9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Studio makes multi-step work feel authored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E92A2-F1B0-48FF-AA14-08F82DAD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A five-step builder creates an Arc; suggested routes can be saved or launched immediately.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35902-E5BB-4C82-9B5E-18BEBFD6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E3473-6053-45AE-8556-29A6A4F5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aedc4a9574c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4EEAA-DDBB-4EE5-B6A7-086835EC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Five-step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C170C-586E-4148-BDB1-BDA28857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4b5d6c33e45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05200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79370-6964-4252-9912-BC6DC290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Suggested Scene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83E22-D20F-4831-8D0D-26F84C64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YOUR STUDIO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08525-ACA0-4A6B-9AA2-545D067C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Name, assemble, and tune the route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BEA3C-521D-479F-B577-CD95AA90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The wizard lowers the cost of structuring a sequence while preserving per-step modes, timing, and Surge choices.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E8A42-7537-4545-AECD-71056009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rPr>
              <a:t>SCENES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8CFBE-38E1-4759-94DF-F4455BFC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Templates remain editable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880C3-94AF-4EE9-9E9A-F22DEF28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863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Preview a route such as Deep Work Launch, inspect the steps and estimated duration, then Save as Arc or Begin Arc.</a:t>
            </a:r>
          </a:p>
        </p:txBody>
      </p:sp>
    </p:spTree>
    <p:extLst>
      <p:ext uri="{BB962C8B-B14F-4D97-AF65-F5344CB8AC3E}">
        <p14:creationId xmlns:p14="http://schemas.microsoft.com/office/powerpoint/2010/main" val="478756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B662E-3E0B-4DE9-B81D-43072535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09  /  PERSONALIZE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C0BA8-3511-4D2C-AEE2-898307F4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Power tools stay close, but out of the 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4611A-66FC-4C96-81FC-0FE07CFA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ScratchPad supports deep capture; settings tune motivation, calm, language, and movement.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0D93E-0FE7-4C91-9527-EA61FA16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4B15A-5EDB-4415-BFD6-A0F9BD70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b18f7c9904a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90ABD-2DBA-4EFB-B791-FF127B6C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ScratchPad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23AB7-D096-4FA5-94DB-61D5BB92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fa459520644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4225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3FFBF-134C-48EB-BC0F-87CC016C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Help &amp;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6AE30-EC61-4396-9199-A991C7CC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14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6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86C7D"/>
                </a:solidFill>
                <a:latin typeface="Helvetica Neue"/>
                <a:ea typeface="Helvetica Neue"/>
                <a:cs typeface="Helvetica Neue"/>
              </a:rPr>
              <a:t>SCRATCHPAD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6FBDA-044B-4636-AF75-4F43B6F2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real writing surface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89603-D51D-4B3B-866C-E957F513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Headings, type styles, bold, italic, underline, strike, sub/superscript, search, undo/redo, and top/bottom navigation.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B2CE6-3527-4503-B3C9-E33BC8FF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7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SETTINGS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B293D-9CC1-4AE1-8929-7E0DD33A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577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Motivation can be calibrated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5A3D1-677F-49BB-BE0D-46F26521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863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Show or hide score, enable Calm Mode, change language, connect Health Connect, and earn a movement bonus during eligible Flows.</a:t>
            </a:r>
          </a:p>
        </p:txBody>
      </p:sp>
    </p:spTree>
    <p:extLst>
      <p:ext uri="{BB962C8B-B14F-4D97-AF65-F5344CB8AC3E}">
        <p14:creationId xmlns:p14="http://schemas.microsoft.com/office/powerpoint/2010/main" val="3506790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68F45-3717-4C18-A0C7-277D47ED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10  /  RETURN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EBCC9-9C87-4672-A84D-FE2704BB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Shell gives every session somewhere to land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607CF-26E8-4B68-B9EE-3248BA4C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A persistent home, Pearl economy, objectives, and notifications turn isolated sessions into continuity.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EE8BD-FB7A-46A4-ADCE-9CDDFB04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8FECC-D2B6-433B-B2E6-363755AB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2238012da46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AA498-CB11-42D3-B3D6-0ACC3942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The Shell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E21EA-7F8B-4C9F-91FF-D9A945DF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ce96556964a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4225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AA0FF-158B-4987-8AA0-C2FE7734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The Lookout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ECAE7-383C-499F-B001-CA488209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rPr>
              <a:t>THE SHELL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AD2BD-4BE5-4E4A-8188-9E21C687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193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retention hub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812E2-84FB-4DDC-83B4-CDB2BCA7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480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Pearls, collections, Heart, The Blue, Chest, badges, and notification inlays live in one navigable place.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7B909-AEFB-426A-BAF3-1990148D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7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THE LOOKOUT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615685-701D-47CE-92BB-748A67EE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577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Objectives without streak anxiety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E16A1-C2DA-4F1B-AD99-3DD8FA88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863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Daily, weekly, and monthly goals create multiple horizons, each with clear Pearl rewards.</a:t>
            </a:r>
          </a:p>
        </p:txBody>
      </p:sp>
    </p:spTree>
    <p:extLst>
      <p:ext uri="{BB962C8B-B14F-4D97-AF65-F5344CB8AC3E}">
        <p14:creationId xmlns:p14="http://schemas.microsoft.com/office/powerpoint/2010/main" val="2335762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F0DAC-AD84-476B-90A0-E9F46497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11  /  RETURN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70A6B-6643-439C-821A-16A5E170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Progress can be measured—or turned into the next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CDC33-EB3D-44AC-806F-055DB7EF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Voyage Hall serves the analytical user; Idea Grove serves the exploratory user.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1E043-5FB6-476D-B8C6-A35C9E58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2C36A-E9A1-43F5-B760-1E796D7D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c9dca158245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71B4D-0FDA-4F58-B13F-2FF8F3B8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Voyage Hall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EA2A8-4F55-4C19-89E5-B8E4B234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c347a39ed42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4225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812E1-5193-4CF1-BA21-DB87BBE7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Idea Grove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3C322-CE64-46D2-BB62-AE4DDC3A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rPr>
              <a:t>VOYAGE HALL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F0AD0-1BC4-4EA6-A2B4-193DDC98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193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Stats, records, and streaks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0B140-29BE-4A0A-BE0E-14D312EF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480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Review totals, bests, core progress, bonus contribution, and repeat behavior in a dedicated long-view space.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F1314-18DD-4A0E-9C2B-08EA8C30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7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IDEA GROVE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C0DA5-DD63-47E0-9F34-1DD1490B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577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Thoughts become launch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ED3EF-EFFE-45FC-A48C-3A5E272E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863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Pulse-derived ideas can be alive or completed, then launch a Flow when the user is ready to act.</a:t>
            </a:r>
          </a:p>
        </p:txBody>
      </p:sp>
    </p:spTree>
    <p:extLst>
      <p:ext uri="{BB962C8B-B14F-4D97-AF65-F5344CB8AC3E}">
        <p14:creationId xmlns:p14="http://schemas.microsoft.com/office/powerpoint/2010/main" val="16537904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AE0DF-2DDC-4A33-8ABD-0921C7B3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12  /  RETURN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B2E05-524A-4B82-951A-EC691630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app also rewards recovery and gentler momentum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76FB3-A98B-486B-A414-17CBB134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Guided focus exercises and Soft Flow collection progress make the system broader than high-intensity productivity.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BC2EC-744C-43EA-8142-4C1759A0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87B35-7FA7-43CA-8013-DB8FB1E9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decb5f4824e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814BF-8825-4099-AE1C-0B665C97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Focus Room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1E465-CECE-4345-8730-61A21F13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117628e1d4d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4225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C3B2B-D388-4EF3-B53D-3EEEA381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Stillwater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A3B5C-6EBE-4FEF-BF2A-784BAFAD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rPr>
              <a:t>FOCUS ROOM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F94A1-94C6-4771-B2B8-915C5DD0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193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Guided regulation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6225C-691E-401B-A4DD-11F8AA5C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480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Voice-supported exercises include grounding and Box Breathing, giving users a deliberate on-ramp before or between demanding sessions.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ACE99-56CA-4FD7-BEC4-3817C154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7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STILLWATER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1A1B7-7BB6-4F07-9618-FD1E88D8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577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Soft work earns its own ecology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17CAA-29A2-4381-B1AE-0FCBE9B9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863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Soft Flow Drops fill vessels and unlock exclusive creatures—recognizing restorative effort without turning it into score competition.</a:t>
            </a:r>
          </a:p>
        </p:txBody>
      </p:sp>
    </p:spTree>
    <p:extLst>
      <p:ext uri="{BB962C8B-B14F-4D97-AF65-F5344CB8AC3E}">
        <p14:creationId xmlns:p14="http://schemas.microsoft.com/office/powerpoint/2010/main" val="5668770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318A8-1C3D-43ED-B4A5-BD4C0AAA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13  / 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248F9-7889-481C-80E3-74B6DD21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Blue makes accumulated effort feel alive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9926C-85B7-4861-A51C-EF404799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Creatures inhabit depth zones, collections expand, and the environment changes with continued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3CB53-A7DA-43EF-8ED1-3A1B25C4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03EC3-C2C3-44C6-B0F7-A9C18595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24050"/>
            <a:ext cx="2190750" cy="4591050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da35415d44e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990725"/>
            <a:ext cx="2057400" cy="44577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1358A-26FC-44DF-AF25-25F530A7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Sunlit Reef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7AF2D-EA78-40E4-856B-2D6A0C4C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924050"/>
            <a:ext cx="2190750" cy="4591050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3f83df66d43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6600" y="1990725"/>
            <a:ext cx="2057400" cy="44577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04F53-C598-4DE0-8A0E-90A6B2A3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610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Great Blue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FC812-A212-4131-B43C-BE0F80B7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526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rPr>
              <a:t>DEPTH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BE95A-E7D8-405B-AE8C-EFED69CD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384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world with visible progression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F71ED-875E-42AE-8A03-BA858021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670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Move from Sunlit Reef into deeper zones, encounter new species, and see collection counts and depth progress in place.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461AD-F019-481F-B57B-1C0DB344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1960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B4073-10A9-4FDA-8966-9420D9A9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Beyond Blue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EC115-2B4F-4EFB-976A-22214007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29175"/>
            <a:ext cx="4133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Regular Flows can surface encounters; Pearls can grow creatures, and release creates another meaningful outcome.</a:t>
            </a:r>
          </a:p>
        </p:txBody>
      </p:sp>
    </p:spTree>
    <p:extLst>
      <p:ext uri="{BB962C8B-B14F-4D97-AF65-F5344CB8AC3E}">
        <p14:creationId xmlns:p14="http://schemas.microsoft.com/office/powerpoint/2010/main" val="6669160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9DF72-08E9-45CF-B0C7-0B953EDF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14  /  COLLECTION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4378D-C7A0-4482-B52E-6F5286FF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Every creature retains the story of how it arrived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FFBBE-53B0-4587-BF84-6E7D48AA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The Chest makes ownership operational; detail views preserve provenance and growth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6C197-A46E-440A-A361-A4C2B812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ADFCA-ABEC-49CE-B546-F8FC3C3E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cdf2ae21240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4154D-0FAE-4D59-9375-1AB2A6F1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Creature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76965-9690-4E28-87BD-2AE98003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43100"/>
            <a:ext cx="2085975" cy="4364038"/>
          </a:xfrm>
          <a:prstGeom xmlns:a="http://schemas.openxmlformats.org/drawingml/2006/main" prst="roundRect">
            <a:avLst>
              <a:gd name="adj" fmla="val 1461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19f18c8034c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4225" y="2009775"/>
            <a:ext cx="1952625" cy="4230688"/>
          </a:xfrm>
          <a:prstGeom xmlns:a="http://schemas.openxmlformats.org/drawingml/2006/main" prst="roundRect">
            <a:avLst>
              <a:gd name="adj" fmla="val 131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0C1CC-C108-4A5C-906F-E5C62DAE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402388"/>
            <a:ext cx="218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The Chest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0212B-F995-4DDE-803C-A52A695B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rPr>
              <a:t>PROVENANCE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45FF8-DB58-473F-B70A-E0EDC225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193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Created by a real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E621A-4C51-460A-91F3-E7F05AE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480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Creature detail connects species, zone, level, age, and Pearl value back to the session that generated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6C413-2D37-40E1-AF22-48FE9751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7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INVENTORY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9EFD9-15A3-4BDF-8AE7-4814B210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577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Collect, sort, grow, place,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A5D9C-75C6-42D9-BF0D-2DB51EAE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863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The Chest supports filtering and progression actions, giving collection depth beyond a static gallery.</a:t>
            </a:r>
          </a:p>
        </p:txBody>
      </p:sp>
    </p:spTree>
    <p:extLst>
      <p:ext uri="{BB962C8B-B14F-4D97-AF65-F5344CB8AC3E}">
        <p14:creationId xmlns:p14="http://schemas.microsoft.com/office/powerpoint/2010/main" val="7378384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E705E-120B-4E48-959A-EFEF1DAC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15  /  MASTERY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7B19D-0EB3-48B6-986F-C7BB4441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Badges make progress legible before and after mastery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5B084-ED1C-4BBF-8CF3-8BA83574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Users can pin, track, showcase, and browse what is within reach.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DB98E-7CDF-43F8-B33B-F91822F0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C6F41-047C-4D09-B88B-D307D9A8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33575"/>
            <a:ext cx="2266950" cy="4756150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0b1ea41a849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000250"/>
            <a:ext cx="2133600" cy="4622800"/>
          </a:xfrm>
          <a:prstGeom xmlns:a="http://schemas.openxmlformats.org/drawingml/2006/main" prst="roundRect">
            <a:avLst>
              <a:gd name="adj" fmla="val 1205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7BAB2-4852-4250-8506-9CE0FDF1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849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Badge showcase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70B63-FB3B-4468-A498-0C0D6CD3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3360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667D1-88DC-4820-8B4E-7DA4C0F9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52650"/>
            <a:ext cx="641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Showcase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B60B8-C688-489B-BEB2-499D2FAC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43175"/>
            <a:ext cx="6419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Pin earned badges so mastery becomes identity, not just a hidden counter.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59ED7-4B5E-493D-AB92-8473D3D1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DA478-1BF7-4FA5-811F-56613EC9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62325"/>
            <a:ext cx="641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CF217-53D0-4CFC-8EF6-BE5FE824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52850"/>
            <a:ext cx="6419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Choose an in-progress badge such as a two-hour Flow and keep the next milestone visible.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77074-C165-4FC4-8425-DB471A4E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529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94CC2-5CE6-4767-AFAD-AC764EEE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572000"/>
            <a:ext cx="641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Explore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FAA07-8C40-4352-855C-D79A9292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962525"/>
            <a:ext cx="6419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Badge Book, Within Reach, collections, and celebration states create multiple discovery paths.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56C3D-5A01-4ADF-A00E-C15891EA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87692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The system recognizes duration, variety, collection, Stillwater participation, and other forms of engagement.</a:t>
            </a:r>
          </a:p>
        </p:txBody>
      </p:sp>
    </p:spTree>
    <p:extLst>
      <p:ext uri="{BB962C8B-B14F-4D97-AF65-F5344CB8AC3E}">
        <p14:creationId xmlns:p14="http://schemas.microsoft.com/office/powerpoint/2010/main" val="8318134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42FEC4-9A6A-4148-B097-EAB742AF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16  / 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46E2C-1425-45D6-9D68-0D0A1DFE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breadth resolves into four coherent value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BD92F-38C7-45EE-9140-ECD8234B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This is the complete feature map represented in the walkthrough.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A2453-8522-4D5D-B40F-E439F31E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03227-7D59-450F-A635-CA689481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257175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47676-48EA-4016-A49C-A3E00E45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5315B-54DB-40D1-AA67-5EA04DAC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581D4-11DB-4BFC-8AC2-191E0D5E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2143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Flow • Soft Flow • Surge</a:t>
            </a:r>
          </a:p>
          <a:p xmlns:a="http://schemas.openxmlformats.org/drawingml/2006/main">
            <a:pPr algn="l">
              <a:def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Journey tagging • Live runtime</a:t>
            </a:r>
          </a:p>
          <a:p xmlns:a="http://schemas.openxmlformats.org/drawingml/2006/main">
            <a:pPr algn="l">
              <a:def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Pulse during Flow • Arc continuation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4F807-5982-4480-AA5E-28373C31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95500"/>
            <a:ext cx="257175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053DE-1F5D-4BCC-908A-1B686B88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5B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3762F-C4DC-4FFF-B10C-FE284864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765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Remember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47F7B-D498-4484-8536-281A7249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52825"/>
            <a:ext cx="2143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Story • Sagas • Chronicles</a:t>
            </a:r>
          </a:p>
          <a:p xmlns:a="http://schemas.openxmlformats.org/drawingml/2006/main">
            <a:pPr algn="l">
              <a:def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Text • Audio • Photo • Video</a:t>
            </a:r>
          </a:p>
          <a:p xmlns:a="http://schemas.openxmlformats.org/drawingml/2006/main">
            <a:pPr algn="l">
              <a:def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Day/Week/Month analytics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94770-79C8-4984-8387-3EB6A70D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57175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C2DD2-194A-45F1-9FF7-516E1064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86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786C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58A8D-9C72-4FA4-A088-98CCB338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7A128-ADBD-47EB-A8FE-438DFD25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2143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Paths • Planned Flows • Arcs</a:t>
            </a:r>
          </a:p>
          <a:p xmlns:a="http://schemas.openxmlformats.org/drawingml/2006/main">
            <a:pPr algn="l">
              <a:def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Five-step Studio • Suggested Scenes</a:t>
            </a:r>
          </a:p>
          <a:p xmlns:a="http://schemas.openxmlformats.org/drawingml/2006/main">
            <a:pPr algn="l">
              <a:def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ScratchPad • Idea Grove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A7FE6-92E4-4907-9CE5-BD0895A4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95500"/>
            <a:ext cx="257175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BEC58-FB7B-47E2-B62D-3743B14C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24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6C395-3F50-4D43-8B19-A986E6ED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765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77A8A-D5EB-4FD9-9140-5A44DD0C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552825"/>
            <a:ext cx="2143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Shell • Pearls • Lookout • Voyage</a:t>
            </a:r>
          </a:p>
          <a:p xmlns:a="http://schemas.openxmlformats.org/drawingml/2006/main">
            <a:pPr algn="l">
              <a:def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Focus Room • Stillwater • The Blue</a:t>
            </a:r>
          </a:p>
          <a:p xmlns:a="http://schemas.openxmlformats.org/drawingml/2006/main">
            <a:pPr algn="l">
              <a:def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Chest • Creatures • Badges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730A8-7AC9-432F-9E1D-8C3FDB57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953125"/>
            <a:ext cx="984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One data spine: sessions, journeys, reflections, plans, rewards, and collection state reinforce each other.</a:t>
            </a:r>
          </a:p>
        </p:txBody>
      </p:sp>
    </p:spTree>
    <p:extLst>
      <p:ext uri="{BB962C8B-B14F-4D97-AF65-F5344CB8AC3E}">
        <p14:creationId xmlns:p14="http://schemas.microsoft.com/office/powerpoint/2010/main" val="16967745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1471D2-57CC-4327-BAB1-C03A06B5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17  / 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2D3AD-A13E-4071-AE82-0ADF6630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five-minute demo can show the entire product promise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FC8B1-8831-4BA0-9525-1110E792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Follow the natural product loop and end in the world that makes progress memorable.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9EBD0-5029-4536-A137-B198A3E4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F62E9-1100-4073-8D4B-42EA5CC9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6925"/>
            <a:ext cx="1257300" cy="256857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9a7a14c934a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2133600"/>
            <a:ext cx="1123950" cy="2435225"/>
          </a:xfrm>
          <a:prstGeom xmlns:a="http://schemas.openxmlformats.org/drawingml/2006/main" prst="roundRect">
            <a:avLst>
              <a:gd name="adj" fmla="val 2288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20664-2502-4441-B9F5-2504FAE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810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EA8C3-D4B9-4E3C-A7F0-64097B36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10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BB4CD-E424-4450-A5E3-510F7774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21970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Open Story, choose a journey, start a 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6AD28-E5E1-4CF0-8B7B-BE28A7AB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14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C6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8C6BD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81C86-6310-4584-BB44-35868AA1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66925"/>
            <a:ext cx="1257300" cy="256857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9e5d2c36241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9925" y="2133600"/>
            <a:ext cx="1123950" cy="2435225"/>
          </a:xfrm>
          <a:prstGeom xmlns:a="http://schemas.openxmlformats.org/drawingml/2006/main" prst="roundRect">
            <a:avLst>
              <a:gd name="adj" fmla="val 2288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37373-5BD2-45DC-95AD-81623052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10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52DEB-426C-48E0-9727-97C91726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810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Focus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D8133-FBE2-4EEE-9542-DE25A074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1970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Show live time, Surge, and Pulse capture.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94A11-D9DC-40FC-86EA-C1321B12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14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C6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8C6BD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822A3-20A1-4AD3-977A-FD7A34F0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66925"/>
            <a:ext cx="1257300" cy="256857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87916406948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53075" y="2133600"/>
            <a:ext cx="1123950" cy="2435225"/>
          </a:xfrm>
          <a:prstGeom xmlns:a="http://schemas.openxmlformats.org/drawingml/2006/main" prst="roundRect">
            <a:avLst>
              <a:gd name="adj" fmla="val 22881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68814-54FB-4015-B32E-1DF234AD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810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D1C5E-75A9-4829-A649-4383C43B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810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Reflect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81A61-6187-4537-8FDE-073DBC52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21970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Open Chronicle and show media choices.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0B3B19-6F90-4D3B-B74C-EC9CE768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314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C6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8C6BD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188C6A-AA48-4C33-AB8E-C7BBBAB8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66925"/>
            <a:ext cx="1257300" cy="256857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e79cfe10547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96225" y="2133600"/>
            <a:ext cx="1123950" cy="2435225"/>
          </a:xfrm>
          <a:prstGeom xmlns:a="http://schemas.openxmlformats.org/drawingml/2006/main" prst="roundRect">
            <a:avLst>
              <a:gd name="adj" fmla="val 22881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DEEDC8-AAC3-4FE7-84AE-781EF3A3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810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F969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820A1-F4E5-43DA-BE50-DD1C942D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810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Reward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5354E7-249F-426E-B208-49C76BDF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21970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Complete the Flow and swipe the reveal.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9F0399-96A0-4B6F-B127-12D795D8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14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C6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8C6BD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A1E974-0AED-4967-9AF8-60A58A86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66925"/>
            <a:ext cx="1257300" cy="256857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7383B"/>
          </a:solidFill>
          <a:ln xmlns:a="http://schemas.openxmlformats.org/drawingml/2006/main" w="9525">
            <a:solidFill>
              <a:srgbClr val="17383B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80b54771d48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9375" y="2133600"/>
            <a:ext cx="1123950" cy="2435225"/>
          </a:xfrm>
          <a:prstGeom xmlns:a="http://schemas.openxmlformats.org/drawingml/2006/main" prst="roundRect">
            <a:avLst>
              <a:gd name="adj" fmla="val 22881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7C1C2F-32E1-4B6C-99A9-7EF9F269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10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1269FE-DA3F-4113-9838-A3FE6AD3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101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Return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3FBFD5-A93E-4884-BB06-B6DE04F3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1970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274"/>
                </a:solidFill>
                <a:latin typeface="Helvetica Neue"/>
                <a:ea typeface="Helvetica Neue"/>
                <a:cs typeface="Helvetica Neue"/>
              </a:rPr>
              <a:t>Enter The Shell and descend into The Blue.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1B6826-ED4C-4712-8D3D-BC165D6E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162675"/>
            <a:ext cx="720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83B"/>
                </a:solidFill>
                <a:latin typeface="Helvetica Neue"/>
                <a:ea typeface="Helvetica Neue"/>
                <a:cs typeface="Helvetica Neue"/>
              </a:rPr>
              <a:t>Optional coda: open Paths to show that the next session is already plan-able.</a:t>
            </a:r>
          </a:p>
        </p:txBody>
      </p:sp>
    </p:spTree>
    <p:extLst>
      <p:ext uri="{BB962C8B-B14F-4D97-AF65-F5344CB8AC3E}">
        <p14:creationId xmlns:p14="http://schemas.microsoft.com/office/powerpoint/2010/main" val="9034426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3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4992d951b47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552450"/>
            <a:ext cx="762000" cy="762000"/>
          </a:xfrm>
          <a:prstGeom xmlns:a="http://schemas.openxmlformats.org/drawingml/2006/main" prst="roundRect">
            <a:avLst>
              <a:gd name="adj" fmla="val 275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2F757-03D8-4F27-BA86-FB4DDBEC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953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EE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EEEB"/>
                </a:solidFill>
                <a:latin typeface="Helvetica Neue"/>
                <a:ea typeface="Helvetica Neue"/>
                <a:cs typeface="Helvetica Neue"/>
              </a:rPr>
              <a:t>SCYRA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390D4-D4FF-436B-8E87-64414503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6191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productivity system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users can inhabit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47040-AAB5-4228-8FA2-D4B350D5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1475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E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9EEEB"/>
                </a:solidFill>
                <a:latin typeface="Helvetica Neue"/>
                <a:ea typeface="Helvetica Neue"/>
                <a:cs typeface="Helvetica Neue"/>
              </a:rPr>
              <a:t>Focus creates evidence. Evidence creates meaning. Meaning creates a reason to return.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DCA25-0260-46C5-B5F5-76ADC27D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86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69B50"/>
                </a:solidFill>
                <a:latin typeface="Helvetica Neue"/>
                <a:ea typeface="Helvetica Neue"/>
                <a:cs typeface="Helvetica Neue"/>
              </a:rPr>
              <a:t>Decision to advance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2E394-F5D7-43EB-82D4-69E7E450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Align on the live-demo story, target audience, and next validation milestone.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B97B7-5A0F-4AFF-99D5-EA978ECE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600075"/>
            <a:ext cx="1962150" cy="4095750"/>
          </a:xfrm>
          <a:prstGeom xmlns:a="http://schemas.openxmlformats.org/drawingml/2006/main" prst="roundRect">
            <a:avLst>
              <a:gd name="adj" fmla="val 155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51324909f4e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0" y="666750"/>
            <a:ext cx="1828800" cy="3962400"/>
          </a:xfrm>
          <a:prstGeom xmlns:a="http://schemas.openxmlformats.org/drawingml/2006/main" prst="roundRect">
            <a:avLst>
              <a:gd name="adj" fmla="val 1406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BEE8F-DDA2-43C6-8751-5F21A79D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66825"/>
            <a:ext cx="1962150" cy="4095750"/>
          </a:xfrm>
          <a:prstGeom xmlns:a="http://schemas.openxmlformats.org/drawingml/2006/main" prst="roundRect">
            <a:avLst>
              <a:gd name="adj" fmla="val 15534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9525">
            <a:solidFill>
              <a:srgbClr val="DCEC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38ec1cfe345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2600" y="1333500"/>
            <a:ext cx="1828800" cy="3962400"/>
          </a:xfrm>
          <a:prstGeom xmlns:a="http://schemas.openxmlformats.org/drawingml/2006/main" prst="roundRect">
            <a:avLst>
              <a:gd name="adj" fmla="val 14063"/>
            </a:avLst>
          </a:prstGeom>
        </p:spPr>
      </p:pic>
    </p:spTree>
    <p:extLst>
      <p:ext uri="{BB962C8B-B14F-4D97-AF65-F5344CB8AC3E}">
        <p14:creationId xmlns:p14="http://schemas.microsoft.com/office/powerpoint/2010/main" val="1860815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2026-08-19T14:44:25.3010000Z</dcterms:created>
  <dcterms:modified xsi:type="dcterms:W3CDTF">2026-08-19T14:44:25.3010000Z</dcterms:modified>
</coreProperties>
</file>